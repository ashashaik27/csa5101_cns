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47DFE-5C4B-4D5B-BB66-ACAFC6E25D4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6415A-FEFC-4722-8BA3-B4356B122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87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topic. Two ideas: cryptography hides the meaning of a message, steganography hides the fact that a message exists. Fill in the student details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ED26-83A8-2D98-126F-D93819521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8F1A1-0073-A19C-84B9-D2BDE68A7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CEBF-8025-C13A-E88F-9C0FFEF0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8A55C-F983-6B17-9E10-37DAF2FB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F96C-6566-37E2-27EA-521B010A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44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F5B6-0B0B-8D92-9762-1A627DD3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E8CF9-A337-6571-680A-7A96D498F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65AC5-CB0D-9CE6-59A6-E02517EF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5B8BA-5C6E-CC4E-8CA9-81F7DC5B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93FF9-A6B7-1CBB-2F99-6B882326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08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E4D9-2FA9-1770-8EE3-D0FB9778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B99C3-43B8-EE00-14CD-5D2FBFE1D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4F674-7C90-17C3-D3D1-1AE16C83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F05A5-AD91-16CC-158E-E2B99CBB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0AF90-648A-57C3-2192-367A3A14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1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F58D-BA7F-9E57-7770-930ABC4B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375F4-04C0-0062-0FFC-45E03DCA4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1B5B0-25A5-2096-A157-F80785C60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0C0D4-28BB-A4BF-CAD0-BB8B9D0B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FE090-DEEE-8F9F-7AC9-87346681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3537E-DD88-B4CC-5085-74D8DD5C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880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A9AE-0BD2-8323-1ADE-2F2A2A62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9A1BD-4E74-CB6E-DFE9-3EBC23104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3CAAC-35EB-04F6-ED7B-7B33EA675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08CA85-4B1C-61F9-D21F-A86F38335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92DD4-6C7D-919A-46B4-E77D1AF3A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EF172-DF83-500E-66F0-96CAC25D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ADED43-F4DA-90F0-58D9-30AAF91E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24CA8-B83A-9CDE-AFEC-4279A2CE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4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3048-137E-7294-2525-F13A0D45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3FACA-4A13-F7CB-8B6A-D855E2D5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53967-CD41-3014-3824-233E3781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8FCF1-8A9D-F38C-4F77-82A944DE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20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8E1B1-CBA0-D2A8-87D9-BE810359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50B8A7-A591-E499-9EA7-459E1A34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3BE84-9A9A-8F27-9526-A7863411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45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639C-DE66-A89F-7B55-53912AAE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0A0C4-C8A2-CB80-002D-30FDD1512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E0130-7A07-CA73-82DF-ECB26EE26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47270-CFD7-ACAA-CB62-EC55F703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FDFB-1AC6-BB52-8555-AB901A8C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EBA96-F950-5CFD-26E3-A216E874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93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276C-9088-179C-27EC-31E58942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3C359-7425-E99F-7F45-7309FAD961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F759C-9E56-20E4-8EFB-0FAB667F5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D4CC8-6FD8-D560-A8C1-19535D16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D7AC8-CF3F-87F4-4889-98979F11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1A063-502F-A9E3-7A4C-99CC9B92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38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E20F-C5EC-C876-5ADC-40AD06C8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5F895-BC0B-7D8E-6F11-EB343B536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27B2-C7EB-43B6-7B76-7A55E558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2B0F-242B-918F-BA24-B074237A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41945-3840-F8FE-1CF7-B220DE05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55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B6F96-8A23-B102-3C2C-D69C7E359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54E62-FFBD-0F36-6DD0-F04771222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60B4-DEF1-A269-4828-3C7F5C25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492F7-A01B-3EAE-FE97-D90EC84E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E22B4-F568-0E0E-4000-95D89D10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23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78638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7757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39FEA-25E8-238B-DA42-6A2913728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9D0D2-9569-BE3C-2058-D958B1FE5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1807-9D87-7A61-DEC7-6E6EBBA4D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90965-2EB6-4F33-B324-7F451C92D5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C1C62-69DA-B794-31F2-8754322ED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06015-1B79-1302-C73A-63802FEB8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829A4-61AA-42BC-80C1-959AE38BE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51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39633" y="2177385"/>
            <a:ext cx="113796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vs Cryptography:</a:t>
            </a:r>
            <a:endParaRPr lang="en-US" sz="4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Security in the Digital World</a:t>
            </a:r>
          </a:p>
        </p:txBody>
      </p:sp>
      <p:pic>
        <p:nvPicPr>
          <p:cNvPr id="15" name="Picture 2" descr="SSE-Computer Science and Engineering">
            <a:extLst>
              <a:ext uri="{FF2B5EF4-FFF2-40B4-BE49-F238E27FC236}">
                <a16:creationId xmlns:a16="http://schemas.microsoft.com/office/drawing/2014/main" id="{D691657B-D0CA-144C-9376-C1FB4FAB1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324" y="410810"/>
            <a:ext cx="9257603" cy="86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BB03A3-7DFB-215D-FE3B-8978E1CDFFB2}"/>
              </a:ext>
            </a:extLst>
          </p:cNvPr>
          <p:cNvSpPr txBox="1"/>
          <p:nvPr/>
        </p:nvSpPr>
        <p:spPr>
          <a:xfrm>
            <a:off x="2274800" y="4181463"/>
            <a:ext cx="750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CSA5101 – Cryptography and Network Security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48E032-2D0D-5D4A-50BD-5CBB59E06FB5}"/>
              </a:ext>
            </a:extLst>
          </p:cNvPr>
          <p:cNvSpPr txBox="1"/>
          <p:nvPr/>
        </p:nvSpPr>
        <p:spPr>
          <a:xfrm>
            <a:off x="2341360" y="1876317"/>
            <a:ext cx="750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TECHNICAL PRESENTATION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9BCC7-D9F5-DBB1-582C-239AD2FCE64B}"/>
              </a:ext>
            </a:extLst>
          </p:cNvPr>
          <p:cNvSpPr txBox="1"/>
          <p:nvPr/>
        </p:nvSpPr>
        <p:spPr>
          <a:xfrm>
            <a:off x="8516166" y="5213190"/>
            <a:ext cx="3203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ASHA (192473025)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C37CB30-58C1-7769-4DF5-E9BC098E4D46}"/>
              </a:ext>
            </a:extLst>
          </p:cNvPr>
          <p:cNvSpPr txBox="1">
            <a:spLocks/>
          </p:cNvSpPr>
          <p:nvPr/>
        </p:nvSpPr>
        <p:spPr>
          <a:xfrm>
            <a:off x="2738284" y="497021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Security Problem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Key points">
            <a:extLst>
              <a:ext uri="{FF2B5EF4-FFF2-40B4-BE49-F238E27FC236}">
                <a16:creationId xmlns:a16="http://schemas.microsoft.com/office/drawing/2014/main" id="{1CD8B71D-6E6C-9A88-012B-3845575FF3D7}"/>
              </a:ext>
            </a:extLst>
          </p:cNvPr>
          <p:cNvSpPr txBox="1"/>
          <p:nvPr/>
        </p:nvSpPr>
        <p:spPr>
          <a:xfrm>
            <a:off x="983717" y="2297799"/>
            <a:ext cx="6872257" cy="3203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information is transmitted and stored digitally.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may intercept or inspect communications.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protects the content of information.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hides the existence of the information.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address different security requirements.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F0A91-F487-F7BB-6DA2-5E56406AB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969" y="1488905"/>
            <a:ext cx="3506511" cy="48211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B7F4ABB2-AF8F-CB4E-2DFF-CA704D8F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66" y="420844"/>
            <a:ext cx="1080904" cy="973397"/>
          </a:xfrm>
          <a:prstGeom prst="rect">
            <a:avLst/>
          </a:prstGeom>
        </p:spPr>
      </p:pic>
      <p:pic>
        <p:nvPicPr>
          <p:cNvPr id="10" name="Picture 9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361EE365-B1C3-D68C-B744-033D22975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5732" y="348640"/>
            <a:ext cx="1394693" cy="104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2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xamples card">
            <a:extLst>
              <a:ext uri="{FF2B5EF4-FFF2-40B4-BE49-F238E27FC236}">
                <a16:creationId xmlns:a16="http://schemas.microsoft.com/office/drawing/2014/main" id="{549958D3-D5AB-FA54-8097-E831EBEE5F6A}"/>
              </a:ext>
            </a:extLst>
          </p:cNvPr>
          <p:cNvSpPr/>
          <p:nvPr/>
        </p:nvSpPr>
        <p:spPr>
          <a:xfrm>
            <a:off x="457200" y="393192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FB2707F-B006-5249-1060-651EAD17704F}"/>
              </a:ext>
            </a:extLst>
          </p:cNvPr>
          <p:cNvSpPr txBox="1"/>
          <p:nvPr/>
        </p:nvSpPr>
        <p:spPr>
          <a:xfrm>
            <a:off x="68580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xamples list">
            <a:extLst>
              <a:ext uri="{FF2B5EF4-FFF2-40B4-BE49-F238E27FC236}">
                <a16:creationId xmlns:a16="http://schemas.microsoft.com/office/drawing/2014/main" id="{96A48993-9292-1A60-8502-93C4FF6D2426}"/>
              </a:ext>
            </a:extLst>
          </p:cNvPr>
          <p:cNvSpPr txBox="1"/>
          <p:nvPr/>
        </p:nvSpPr>
        <p:spPr>
          <a:xfrm>
            <a:off x="685800" y="45262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symmetric, one shared key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public / private key pair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fixed letter shift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esar card">
            <a:extLst>
              <a:ext uri="{FF2B5EF4-FFF2-40B4-BE49-F238E27FC236}">
                <a16:creationId xmlns:a16="http://schemas.microsoft.com/office/drawing/2014/main" id="{C0CB8E6C-DEF3-6076-FB27-D3BBA9091CFC}"/>
              </a:ext>
            </a:extLst>
          </p:cNvPr>
          <p:cNvSpPr/>
          <p:nvPr/>
        </p:nvSpPr>
        <p:spPr>
          <a:xfrm>
            <a:off x="4937760" y="3931920"/>
            <a:ext cx="67665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21DC66B-751F-766C-F7F1-8A5179F5B1F5}"/>
              </a:ext>
            </a:extLst>
          </p:cNvPr>
          <p:cNvSpPr txBox="1"/>
          <p:nvPr/>
        </p:nvSpPr>
        <p:spPr>
          <a:xfrm>
            <a:off x="5166360" y="4069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example (shift = 3)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72BA88E-00D7-7259-FEBE-0E37C982CC22}"/>
              </a:ext>
            </a:extLst>
          </p:cNvPr>
          <p:cNvSpPr txBox="1"/>
          <p:nvPr/>
        </p:nvSpPr>
        <p:spPr>
          <a:xfrm>
            <a:off x="5166360" y="4572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B02A775-AC6F-DE09-7D02-DE222F5103DE}"/>
              </a:ext>
            </a:extLst>
          </p:cNvPr>
          <p:cNvSpPr txBox="1"/>
          <p:nvPr/>
        </p:nvSpPr>
        <p:spPr>
          <a:xfrm>
            <a:off x="516636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lain letter H">
            <a:extLst>
              <a:ext uri="{FF2B5EF4-FFF2-40B4-BE49-F238E27FC236}">
                <a16:creationId xmlns:a16="http://schemas.microsoft.com/office/drawing/2014/main" id="{ADD3926C-1148-3879-DE63-1EA1C931EAF8}"/>
              </a:ext>
            </a:extLst>
          </p:cNvPr>
          <p:cNvSpPr txBox="1"/>
          <p:nvPr/>
        </p:nvSpPr>
        <p:spPr>
          <a:xfrm>
            <a:off x="6309360" y="452628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H</a:t>
            </a:r>
            <a:endParaRPr lang="en-US" sz="1800" dirty="0"/>
          </a:p>
        </p:txBody>
      </p:sp>
      <p:sp>
        <p:nvSpPr>
          <p:cNvPr id="19" name="Shift arrow">
            <a:extLst>
              <a:ext uri="{FF2B5EF4-FFF2-40B4-BE49-F238E27FC236}">
                <a16:creationId xmlns:a16="http://schemas.microsoft.com/office/drawing/2014/main" id="{B0C855DA-B1EC-6C83-D737-83E275F635E5}"/>
              </a:ext>
            </a:extLst>
          </p:cNvPr>
          <p:cNvSpPr/>
          <p:nvPr/>
        </p:nvSpPr>
        <p:spPr>
          <a:xfrm>
            <a:off x="6675120" y="5056632"/>
            <a:ext cx="0" cy="310896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Cipher letter K">
            <a:extLst>
              <a:ext uri="{FF2B5EF4-FFF2-40B4-BE49-F238E27FC236}">
                <a16:creationId xmlns:a16="http://schemas.microsoft.com/office/drawing/2014/main" id="{6DD923EA-4F43-94EB-36A3-A9CCB4578D93}"/>
              </a:ext>
            </a:extLst>
          </p:cNvPr>
          <p:cNvSpPr txBox="1"/>
          <p:nvPr/>
        </p:nvSpPr>
        <p:spPr>
          <a:xfrm>
            <a:off x="6309360" y="539496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K</a:t>
            </a:r>
            <a:endParaRPr lang="en-US" sz="1800" dirty="0"/>
          </a:p>
        </p:txBody>
      </p:sp>
      <p:sp>
        <p:nvSpPr>
          <p:cNvPr id="23" name="Plain letter E">
            <a:extLst>
              <a:ext uri="{FF2B5EF4-FFF2-40B4-BE49-F238E27FC236}">
                <a16:creationId xmlns:a16="http://schemas.microsoft.com/office/drawing/2014/main" id="{01820308-7EAB-E916-2DEC-42928E0A9DBE}"/>
              </a:ext>
            </a:extLst>
          </p:cNvPr>
          <p:cNvSpPr txBox="1"/>
          <p:nvPr/>
        </p:nvSpPr>
        <p:spPr>
          <a:xfrm>
            <a:off x="7178040" y="452628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endParaRPr lang="en-US" sz="1800" dirty="0"/>
          </a:p>
        </p:txBody>
      </p:sp>
      <p:sp>
        <p:nvSpPr>
          <p:cNvPr id="25" name="Shift arrow">
            <a:extLst>
              <a:ext uri="{FF2B5EF4-FFF2-40B4-BE49-F238E27FC236}">
                <a16:creationId xmlns:a16="http://schemas.microsoft.com/office/drawing/2014/main" id="{040416C0-F748-F343-4C62-1B7C43BE41CB}"/>
              </a:ext>
            </a:extLst>
          </p:cNvPr>
          <p:cNvSpPr/>
          <p:nvPr/>
        </p:nvSpPr>
        <p:spPr>
          <a:xfrm>
            <a:off x="7543800" y="5056632"/>
            <a:ext cx="0" cy="310896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Cipher letter H">
            <a:extLst>
              <a:ext uri="{FF2B5EF4-FFF2-40B4-BE49-F238E27FC236}">
                <a16:creationId xmlns:a16="http://schemas.microsoft.com/office/drawing/2014/main" id="{E838ADED-5057-AEEF-449D-43E2CCF16F98}"/>
              </a:ext>
            </a:extLst>
          </p:cNvPr>
          <p:cNvSpPr txBox="1"/>
          <p:nvPr/>
        </p:nvSpPr>
        <p:spPr>
          <a:xfrm>
            <a:off x="7178040" y="539496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H</a:t>
            </a:r>
            <a:endParaRPr lang="en-US" sz="1800" dirty="0"/>
          </a:p>
        </p:txBody>
      </p:sp>
      <p:sp>
        <p:nvSpPr>
          <p:cNvPr id="29" name="Plain letter L">
            <a:extLst>
              <a:ext uri="{FF2B5EF4-FFF2-40B4-BE49-F238E27FC236}">
                <a16:creationId xmlns:a16="http://schemas.microsoft.com/office/drawing/2014/main" id="{456EA0E0-C636-8B90-9948-2CD3685383DC}"/>
              </a:ext>
            </a:extLst>
          </p:cNvPr>
          <p:cNvSpPr txBox="1"/>
          <p:nvPr/>
        </p:nvSpPr>
        <p:spPr>
          <a:xfrm>
            <a:off x="8046720" y="452628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L</a:t>
            </a:r>
            <a:endParaRPr lang="en-US" sz="1800" dirty="0"/>
          </a:p>
        </p:txBody>
      </p:sp>
      <p:sp>
        <p:nvSpPr>
          <p:cNvPr id="31" name="Shift arrow">
            <a:extLst>
              <a:ext uri="{FF2B5EF4-FFF2-40B4-BE49-F238E27FC236}">
                <a16:creationId xmlns:a16="http://schemas.microsoft.com/office/drawing/2014/main" id="{747A3E1E-112C-5C0B-7A55-4BC329F274E9}"/>
              </a:ext>
            </a:extLst>
          </p:cNvPr>
          <p:cNvSpPr/>
          <p:nvPr/>
        </p:nvSpPr>
        <p:spPr>
          <a:xfrm>
            <a:off x="8412480" y="5056632"/>
            <a:ext cx="0" cy="310896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Cipher letter O">
            <a:extLst>
              <a:ext uri="{FF2B5EF4-FFF2-40B4-BE49-F238E27FC236}">
                <a16:creationId xmlns:a16="http://schemas.microsoft.com/office/drawing/2014/main" id="{232318F0-109F-9A93-ADD2-7FB8FCA39F76}"/>
              </a:ext>
            </a:extLst>
          </p:cNvPr>
          <p:cNvSpPr txBox="1"/>
          <p:nvPr/>
        </p:nvSpPr>
        <p:spPr>
          <a:xfrm>
            <a:off x="8046720" y="539496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</a:t>
            </a:r>
            <a:endParaRPr lang="en-US" sz="1800" dirty="0"/>
          </a:p>
        </p:txBody>
      </p:sp>
      <p:sp>
        <p:nvSpPr>
          <p:cNvPr id="35" name="Plain letter L">
            <a:extLst>
              <a:ext uri="{FF2B5EF4-FFF2-40B4-BE49-F238E27FC236}">
                <a16:creationId xmlns:a16="http://schemas.microsoft.com/office/drawing/2014/main" id="{2E01A0DE-9442-7C36-A328-62411F3E7BE3}"/>
              </a:ext>
            </a:extLst>
          </p:cNvPr>
          <p:cNvSpPr txBox="1"/>
          <p:nvPr/>
        </p:nvSpPr>
        <p:spPr>
          <a:xfrm>
            <a:off x="8915400" y="452628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L</a:t>
            </a:r>
            <a:endParaRPr lang="en-US" sz="1800" dirty="0"/>
          </a:p>
        </p:txBody>
      </p:sp>
      <p:sp>
        <p:nvSpPr>
          <p:cNvPr id="37" name="Shift arrow">
            <a:extLst>
              <a:ext uri="{FF2B5EF4-FFF2-40B4-BE49-F238E27FC236}">
                <a16:creationId xmlns:a16="http://schemas.microsoft.com/office/drawing/2014/main" id="{994E9552-B8B1-A85E-26B3-921B23C885EC}"/>
              </a:ext>
            </a:extLst>
          </p:cNvPr>
          <p:cNvSpPr/>
          <p:nvPr/>
        </p:nvSpPr>
        <p:spPr>
          <a:xfrm>
            <a:off x="9281160" y="5056632"/>
            <a:ext cx="0" cy="310896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9" name="Cipher letter O">
            <a:extLst>
              <a:ext uri="{FF2B5EF4-FFF2-40B4-BE49-F238E27FC236}">
                <a16:creationId xmlns:a16="http://schemas.microsoft.com/office/drawing/2014/main" id="{85E7D36E-B7C1-C4E4-8A3B-532148BE455F}"/>
              </a:ext>
            </a:extLst>
          </p:cNvPr>
          <p:cNvSpPr txBox="1"/>
          <p:nvPr/>
        </p:nvSpPr>
        <p:spPr>
          <a:xfrm>
            <a:off x="8915400" y="539496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</a:t>
            </a:r>
            <a:endParaRPr lang="en-US" sz="1800" dirty="0"/>
          </a:p>
        </p:txBody>
      </p:sp>
      <p:sp>
        <p:nvSpPr>
          <p:cNvPr id="41" name="Plain letter O">
            <a:extLst>
              <a:ext uri="{FF2B5EF4-FFF2-40B4-BE49-F238E27FC236}">
                <a16:creationId xmlns:a16="http://schemas.microsoft.com/office/drawing/2014/main" id="{7EE053CA-B6C6-D72B-4A98-A03F2B313C69}"/>
              </a:ext>
            </a:extLst>
          </p:cNvPr>
          <p:cNvSpPr txBox="1"/>
          <p:nvPr/>
        </p:nvSpPr>
        <p:spPr>
          <a:xfrm>
            <a:off x="9784080" y="452628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O</a:t>
            </a:r>
            <a:endParaRPr lang="en-US" sz="1800" dirty="0"/>
          </a:p>
        </p:txBody>
      </p:sp>
      <p:sp>
        <p:nvSpPr>
          <p:cNvPr id="43" name="Shift arrow">
            <a:extLst>
              <a:ext uri="{FF2B5EF4-FFF2-40B4-BE49-F238E27FC236}">
                <a16:creationId xmlns:a16="http://schemas.microsoft.com/office/drawing/2014/main" id="{F8A912C4-669F-B4D2-FA10-7BA823707676}"/>
              </a:ext>
            </a:extLst>
          </p:cNvPr>
          <p:cNvSpPr/>
          <p:nvPr/>
        </p:nvSpPr>
        <p:spPr>
          <a:xfrm>
            <a:off x="10149840" y="5056632"/>
            <a:ext cx="0" cy="310896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5" name="Cipher letter R">
            <a:extLst>
              <a:ext uri="{FF2B5EF4-FFF2-40B4-BE49-F238E27FC236}">
                <a16:creationId xmlns:a16="http://schemas.microsoft.com/office/drawing/2014/main" id="{CAC45AD8-4B72-8C3F-A7A6-DAD826196F06}"/>
              </a:ext>
            </a:extLst>
          </p:cNvPr>
          <p:cNvSpPr txBox="1"/>
          <p:nvPr/>
        </p:nvSpPr>
        <p:spPr>
          <a:xfrm>
            <a:off x="9784080" y="5394960"/>
            <a:ext cx="7315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</a:t>
            </a:r>
            <a:endParaRPr lang="en-US" sz="180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992DDBA7-1625-FBC6-711D-6C6AD8F93B44}"/>
              </a:ext>
            </a:extLst>
          </p:cNvPr>
          <p:cNvSpPr txBox="1">
            <a:spLocks/>
          </p:cNvSpPr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Cryptography</a:t>
            </a:r>
            <a:r>
              <a:rPr lang="en-US" sz="3400" b="1" dirty="0">
                <a:solidFill>
                  <a:schemeClr val="tx2"/>
                </a:solidFill>
              </a:rPr>
              <a:t>?</a:t>
            </a:r>
            <a:endParaRPr lang="en-US" sz="3400" dirty="0"/>
          </a:p>
        </p:txBody>
      </p:sp>
      <p:sp>
        <p:nvSpPr>
          <p:cNvPr id="47" name="Key points">
            <a:extLst>
              <a:ext uri="{FF2B5EF4-FFF2-40B4-BE49-F238E27FC236}">
                <a16:creationId xmlns:a16="http://schemas.microsoft.com/office/drawing/2014/main" id="{244D22AF-AE51-3D2E-D6EA-90D282837CFF}"/>
              </a:ext>
            </a:extLst>
          </p:cNvPr>
          <p:cNvSpPr txBox="1"/>
          <p:nvPr/>
        </p:nvSpPr>
        <p:spPr>
          <a:xfrm>
            <a:off x="685800" y="13487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converts plaintext into ciphertext using an algorithm and a key.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an authorized user with the appropriate key can recover the original information.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processes: encryption and decryption.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Crypto flow 1">
            <a:extLst>
              <a:ext uri="{FF2B5EF4-FFF2-40B4-BE49-F238E27FC236}">
                <a16:creationId xmlns:a16="http://schemas.microsoft.com/office/drawing/2014/main" id="{1C09CD39-D7DA-5FAB-8FC6-F02F4FCA0CEB}"/>
              </a:ext>
            </a:extLst>
          </p:cNvPr>
          <p:cNvSpPr txBox="1"/>
          <p:nvPr/>
        </p:nvSpPr>
        <p:spPr>
          <a:xfrm>
            <a:off x="457200" y="2788920"/>
            <a:ext cx="1828800" cy="777240"/>
          </a:xfrm>
          <a:prstGeom prst="roundRect">
            <a:avLst>
              <a:gd name="adj" fmla="val 941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Plaintext</a:t>
            </a:r>
            <a:endParaRPr lang="en-US" sz="1500" dirty="0"/>
          </a:p>
        </p:txBody>
      </p:sp>
      <p:sp>
        <p:nvSpPr>
          <p:cNvPr id="49" name="Arrow">
            <a:extLst>
              <a:ext uri="{FF2B5EF4-FFF2-40B4-BE49-F238E27FC236}">
                <a16:creationId xmlns:a16="http://schemas.microsoft.com/office/drawing/2014/main" id="{30A9B94F-3B28-CA79-F1BF-B057A47A97D1}"/>
              </a:ext>
            </a:extLst>
          </p:cNvPr>
          <p:cNvSpPr/>
          <p:nvPr/>
        </p:nvSpPr>
        <p:spPr>
          <a:xfrm>
            <a:off x="2322576" y="3177540"/>
            <a:ext cx="4572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0" name="Crypto flow 2">
            <a:extLst>
              <a:ext uri="{FF2B5EF4-FFF2-40B4-BE49-F238E27FC236}">
                <a16:creationId xmlns:a16="http://schemas.microsoft.com/office/drawing/2014/main" id="{CD1D9C07-A764-F117-6A41-652AC601D79C}"/>
              </a:ext>
            </a:extLst>
          </p:cNvPr>
          <p:cNvSpPr txBox="1"/>
          <p:nvPr/>
        </p:nvSpPr>
        <p:spPr>
          <a:xfrm>
            <a:off x="2816352" y="2788920"/>
            <a:ext cx="1828800" cy="777240"/>
          </a:xfrm>
          <a:prstGeom prst="roundRect">
            <a:avLst>
              <a:gd name="adj" fmla="val 941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/>
              <a:t>Encryption + Key</a:t>
            </a:r>
            <a:endParaRPr lang="en-US" sz="1500" dirty="0"/>
          </a:p>
        </p:txBody>
      </p:sp>
      <p:sp>
        <p:nvSpPr>
          <p:cNvPr id="51" name="Arrow">
            <a:extLst>
              <a:ext uri="{FF2B5EF4-FFF2-40B4-BE49-F238E27FC236}">
                <a16:creationId xmlns:a16="http://schemas.microsoft.com/office/drawing/2014/main" id="{28E6D386-C1F3-EBD5-12A6-A705871C4EFA}"/>
              </a:ext>
            </a:extLst>
          </p:cNvPr>
          <p:cNvSpPr/>
          <p:nvPr/>
        </p:nvSpPr>
        <p:spPr>
          <a:xfrm>
            <a:off x="4681728" y="3177540"/>
            <a:ext cx="4572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2" name="Crypto flow 3">
            <a:extLst>
              <a:ext uri="{FF2B5EF4-FFF2-40B4-BE49-F238E27FC236}">
                <a16:creationId xmlns:a16="http://schemas.microsoft.com/office/drawing/2014/main" id="{DFB88D0E-20B9-F2C6-922B-EFCD29433C4D}"/>
              </a:ext>
            </a:extLst>
          </p:cNvPr>
          <p:cNvSpPr txBox="1"/>
          <p:nvPr/>
        </p:nvSpPr>
        <p:spPr>
          <a:xfrm>
            <a:off x="5175504" y="2788920"/>
            <a:ext cx="1828800" cy="777240"/>
          </a:xfrm>
          <a:prstGeom prst="roundRect">
            <a:avLst>
              <a:gd name="adj" fmla="val 9412"/>
            </a:avLst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/>
              <a:t>Ciphertext</a:t>
            </a:r>
            <a:endParaRPr lang="en-US" sz="1500" dirty="0"/>
          </a:p>
        </p:txBody>
      </p:sp>
      <p:sp>
        <p:nvSpPr>
          <p:cNvPr id="53" name="Arrow">
            <a:extLst>
              <a:ext uri="{FF2B5EF4-FFF2-40B4-BE49-F238E27FC236}">
                <a16:creationId xmlns:a16="http://schemas.microsoft.com/office/drawing/2014/main" id="{E2015B7E-CA1F-C819-5C39-CBF02A89D666}"/>
              </a:ext>
            </a:extLst>
          </p:cNvPr>
          <p:cNvSpPr/>
          <p:nvPr/>
        </p:nvSpPr>
        <p:spPr>
          <a:xfrm>
            <a:off x="7040880" y="3177540"/>
            <a:ext cx="4572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4" name="Crypto flow 4">
            <a:extLst>
              <a:ext uri="{FF2B5EF4-FFF2-40B4-BE49-F238E27FC236}">
                <a16:creationId xmlns:a16="http://schemas.microsoft.com/office/drawing/2014/main" id="{88BA7F96-6C17-92C7-346C-905FFE4045C4}"/>
              </a:ext>
            </a:extLst>
          </p:cNvPr>
          <p:cNvSpPr txBox="1"/>
          <p:nvPr/>
        </p:nvSpPr>
        <p:spPr>
          <a:xfrm>
            <a:off x="7534656" y="2788920"/>
            <a:ext cx="1828800" cy="777240"/>
          </a:xfrm>
          <a:prstGeom prst="roundRect">
            <a:avLst>
              <a:gd name="adj" fmla="val 941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/>
              <a:t>Decryption + Key</a:t>
            </a:r>
            <a:endParaRPr lang="en-US" sz="1500" dirty="0"/>
          </a:p>
        </p:txBody>
      </p:sp>
      <p:sp>
        <p:nvSpPr>
          <p:cNvPr id="55" name="Arrow">
            <a:extLst>
              <a:ext uri="{FF2B5EF4-FFF2-40B4-BE49-F238E27FC236}">
                <a16:creationId xmlns:a16="http://schemas.microsoft.com/office/drawing/2014/main" id="{829997B1-0AE4-2D49-F8DA-37096E5F964F}"/>
              </a:ext>
            </a:extLst>
          </p:cNvPr>
          <p:cNvSpPr/>
          <p:nvPr/>
        </p:nvSpPr>
        <p:spPr>
          <a:xfrm>
            <a:off x="9400032" y="3177540"/>
            <a:ext cx="4572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6" name="Crypto flow 5">
            <a:extLst>
              <a:ext uri="{FF2B5EF4-FFF2-40B4-BE49-F238E27FC236}">
                <a16:creationId xmlns:a16="http://schemas.microsoft.com/office/drawing/2014/main" id="{FA189253-C5AA-CC6F-1995-5BA91BD68080}"/>
              </a:ext>
            </a:extLst>
          </p:cNvPr>
          <p:cNvSpPr txBox="1"/>
          <p:nvPr/>
        </p:nvSpPr>
        <p:spPr>
          <a:xfrm>
            <a:off x="9893808" y="2788920"/>
            <a:ext cx="1828800" cy="777240"/>
          </a:xfrm>
          <a:prstGeom prst="roundRect">
            <a:avLst>
              <a:gd name="adj" fmla="val 941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Plaintext</a:t>
            </a:r>
            <a:endParaRPr lang="en-US" sz="1500" dirty="0"/>
          </a:p>
        </p:txBody>
      </p:sp>
      <p:pic>
        <p:nvPicPr>
          <p:cNvPr id="58" name="Picture 57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10AF803-2B21-A4DE-6B0B-6966A8F43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6" y="420844"/>
            <a:ext cx="1080904" cy="973397"/>
          </a:xfrm>
          <a:prstGeom prst="rect">
            <a:avLst/>
          </a:prstGeom>
        </p:spPr>
      </p:pic>
      <p:pic>
        <p:nvPicPr>
          <p:cNvPr id="60" name="Picture 59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1D3C9CF8-9A18-DDF1-8BE8-85E5C1D03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732" y="348640"/>
            <a:ext cx="1394693" cy="104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9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ey points">
            <a:extLst>
              <a:ext uri="{FF2B5EF4-FFF2-40B4-BE49-F238E27FC236}">
                <a16:creationId xmlns:a16="http://schemas.microsoft.com/office/drawing/2014/main" id="{B1E47754-2DF7-0A44-06E7-EB410DC02A32}"/>
              </a:ext>
            </a:extLst>
          </p:cNvPr>
          <p:cNvSpPr txBox="1"/>
          <p:nvPr/>
        </p:nvSpPr>
        <p:spPr>
          <a:xfrm>
            <a:off x="642366" y="15544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hides secret information inside an ordinary-looking carrier.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carriers: images, audio, video and text.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conceal the existence of the communication.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SB card">
            <a:extLst>
              <a:ext uri="{FF2B5EF4-FFF2-40B4-BE49-F238E27FC236}">
                <a16:creationId xmlns:a16="http://schemas.microsoft.com/office/drawing/2014/main" id="{DCD6E7CC-60B8-3A91-97B8-2DB679302A32}"/>
              </a:ext>
            </a:extLst>
          </p:cNvPr>
          <p:cNvSpPr/>
          <p:nvPr/>
        </p:nvSpPr>
        <p:spPr>
          <a:xfrm>
            <a:off x="457200" y="3246120"/>
            <a:ext cx="749808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F92ABAF-C9AF-5DDA-AA37-1ECBA0D6C342}"/>
              </a:ext>
            </a:extLst>
          </p:cNvPr>
          <p:cNvSpPr txBox="1"/>
          <p:nvPr/>
        </p:nvSpPr>
        <p:spPr>
          <a:xfrm>
            <a:off x="685800" y="3383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LSB idea (simplified conceptual example)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B3D8134-2592-B119-D195-09E4E7C1F40A}"/>
              </a:ext>
            </a:extLst>
          </p:cNvPr>
          <p:cNvSpPr txBox="1"/>
          <p:nvPr/>
        </p:nvSpPr>
        <p:spPr>
          <a:xfrm>
            <a:off x="68580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pixel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Bit 1">
            <a:extLst>
              <a:ext uri="{FF2B5EF4-FFF2-40B4-BE49-F238E27FC236}">
                <a16:creationId xmlns:a16="http://schemas.microsoft.com/office/drawing/2014/main" id="{D9092708-274E-D771-AD13-594CCCED0920}"/>
              </a:ext>
            </a:extLst>
          </p:cNvPr>
          <p:cNvSpPr txBox="1"/>
          <p:nvPr/>
        </p:nvSpPr>
        <p:spPr>
          <a:xfrm>
            <a:off x="2468880" y="384048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Bit 2">
            <a:extLst>
              <a:ext uri="{FF2B5EF4-FFF2-40B4-BE49-F238E27FC236}">
                <a16:creationId xmlns:a16="http://schemas.microsoft.com/office/drawing/2014/main" id="{9530607C-6B3F-6E61-A6B9-89CD8A4C9541}"/>
              </a:ext>
            </a:extLst>
          </p:cNvPr>
          <p:cNvSpPr txBox="1"/>
          <p:nvPr/>
        </p:nvSpPr>
        <p:spPr>
          <a:xfrm>
            <a:off x="3026664" y="384048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Bit 3">
            <a:extLst>
              <a:ext uri="{FF2B5EF4-FFF2-40B4-BE49-F238E27FC236}">
                <a16:creationId xmlns:a16="http://schemas.microsoft.com/office/drawing/2014/main" id="{1FF46C73-0D53-1B35-51AE-A10E1A7544BC}"/>
              </a:ext>
            </a:extLst>
          </p:cNvPr>
          <p:cNvSpPr txBox="1"/>
          <p:nvPr/>
        </p:nvSpPr>
        <p:spPr>
          <a:xfrm>
            <a:off x="3584448" y="384048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Bit 4">
            <a:extLst>
              <a:ext uri="{FF2B5EF4-FFF2-40B4-BE49-F238E27FC236}">
                <a16:creationId xmlns:a16="http://schemas.microsoft.com/office/drawing/2014/main" id="{9D706442-E612-813B-8F1B-37B367412314}"/>
              </a:ext>
            </a:extLst>
          </p:cNvPr>
          <p:cNvSpPr txBox="1"/>
          <p:nvPr/>
        </p:nvSpPr>
        <p:spPr>
          <a:xfrm>
            <a:off x="4142232" y="384048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Bit 5">
            <a:extLst>
              <a:ext uri="{FF2B5EF4-FFF2-40B4-BE49-F238E27FC236}">
                <a16:creationId xmlns:a16="http://schemas.microsoft.com/office/drawing/2014/main" id="{44334B42-E8A2-886C-90FF-34BBE0EC6954}"/>
              </a:ext>
            </a:extLst>
          </p:cNvPr>
          <p:cNvSpPr txBox="1"/>
          <p:nvPr/>
        </p:nvSpPr>
        <p:spPr>
          <a:xfrm>
            <a:off x="4700016" y="384048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Bit 6">
            <a:extLst>
              <a:ext uri="{FF2B5EF4-FFF2-40B4-BE49-F238E27FC236}">
                <a16:creationId xmlns:a16="http://schemas.microsoft.com/office/drawing/2014/main" id="{AFD3AB60-1DAD-D85E-F237-691E5498EDD4}"/>
              </a:ext>
            </a:extLst>
          </p:cNvPr>
          <p:cNvSpPr txBox="1"/>
          <p:nvPr/>
        </p:nvSpPr>
        <p:spPr>
          <a:xfrm>
            <a:off x="5257800" y="384048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Bit 7">
            <a:extLst>
              <a:ext uri="{FF2B5EF4-FFF2-40B4-BE49-F238E27FC236}">
                <a16:creationId xmlns:a16="http://schemas.microsoft.com/office/drawing/2014/main" id="{4018B0E8-6FD9-0ADC-4D8A-74F41BE3E232}"/>
              </a:ext>
            </a:extLst>
          </p:cNvPr>
          <p:cNvSpPr txBox="1"/>
          <p:nvPr/>
        </p:nvSpPr>
        <p:spPr>
          <a:xfrm>
            <a:off x="5815584" y="384048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Bit 8">
            <a:extLst>
              <a:ext uri="{FF2B5EF4-FFF2-40B4-BE49-F238E27FC236}">
                <a16:creationId xmlns:a16="http://schemas.microsoft.com/office/drawing/2014/main" id="{3478EA73-65E9-C2D9-BE4F-EDCE2BF6DE48}"/>
              </a:ext>
            </a:extLst>
          </p:cNvPr>
          <p:cNvSpPr txBox="1"/>
          <p:nvPr/>
        </p:nvSpPr>
        <p:spPr>
          <a:xfrm>
            <a:off x="6373368" y="3840480"/>
            <a:ext cx="50292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2F2A42E7-9F8C-B2A1-87FD-2587EA4DF2D0}"/>
              </a:ext>
            </a:extLst>
          </p:cNvPr>
          <p:cNvSpPr txBox="1"/>
          <p:nvPr/>
        </p:nvSpPr>
        <p:spPr>
          <a:xfrm>
            <a:off x="6995160" y="38404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178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67F62016-7997-F990-D5ED-FEC84112819D}"/>
              </a:ext>
            </a:extLst>
          </p:cNvPr>
          <p:cNvSpPr txBox="1"/>
          <p:nvPr/>
        </p:nvSpPr>
        <p:spPr>
          <a:xfrm>
            <a:off x="68580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bit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ecret bit">
            <a:extLst>
              <a:ext uri="{FF2B5EF4-FFF2-40B4-BE49-F238E27FC236}">
                <a16:creationId xmlns:a16="http://schemas.microsoft.com/office/drawing/2014/main" id="{061B768C-9DF1-EBF7-AE49-2FB8A75515D8}"/>
              </a:ext>
            </a:extLst>
          </p:cNvPr>
          <p:cNvSpPr txBox="1"/>
          <p:nvPr/>
        </p:nvSpPr>
        <p:spPr>
          <a:xfrm>
            <a:off x="2468880" y="4480560"/>
            <a:ext cx="50292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3C4E0EE5-2E9D-FC30-1FE5-16F600ADD700}"/>
              </a:ext>
            </a:extLst>
          </p:cNvPr>
          <p:cNvSpPr txBox="1"/>
          <p:nvPr/>
        </p:nvSpPr>
        <p:spPr>
          <a:xfrm>
            <a:off x="3154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the last bit of the pixel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891AFE0D-5E25-C412-30CF-D6DF255CB06E}"/>
              </a:ext>
            </a:extLst>
          </p:cNvPr>
          <p:cNvSpPr txBox="1"/>
          <p:nvPr/>
        </p:nvSpPr>
        <p:spPr>
          <a:xfrm>
            <a:off x="685800" y="5120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pixel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Bit 1">
            <a:extLst>
              <a:ext uri="{FF2B5EF4-FFF2-40B4-BE49-F238E27FC236}">
                <a16:creationId xmlns:a16="http://schemas.microsoft.com/office/drawing/2014/main" id="{D5CF86F8-2D06-E68A-6141-5DA777EC1A5B}"/>
              </a:ext>
            </a:extLst>
          </p:cNvPr>
          <p:cNvSpPr txBox="1"/>
          <p:nvPr/>
        </p:nvSpPr>
        <p:spPr>
          <a:xfrm>
            <a:off x="2468880" y="512064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Bit 2">
            <a:extLst>
              <a:ext uri="{FF2B5EF4-FFF2-40B4-BE49-F238E27FC236}">
                <a16:creationId xmlns:a16="http://schemas.microsoft.com/office/drawing/2014/main" id="{891BAF2D-3751-7A2D-9890-DEE8E6A356F6}"/>
              </a:ext>
            </a:extLst>
          </p:cNvPr>
          <p:cNvSpPr txBox="1"/>
          <p:nvPr/>
        </p:nvSpPr>
        <p:spPr>
          <a:xfrm>
            <a:off x="3026664" y="512064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Bit 3">
            <a:extLst>
              <a:ext uri="{FF2B5EF4-FFF2-40B4-BE49-F238E27FC236}">
                <a16:creationId xmlns:a16="http://schemas.microsoft.com/office/drawing/2014/main" id="{671020D5-0D21-0605-D66A-05A280906275}"/>
              </a:ext>
            </a:extLst>
          </p:cNvPr>
          <p:cNvSpPr txBox="1"/>
          <p:nvPr/>
        </p:nvSpPr>
        <p:spPr>
          <a:xfrm>
            <a:off x="3584448" y="512064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Bit 4">
            <a:extLst>
              <a:ext uri="{FF2B5EF4-FFF2-40B4-BE49-F238E27FC236}">
                <a16:creationId xmlns:a16="http://schemas.microsoft.com/office/drawing/2014/main" id="{107E6C17-11EC-3E47-2E2B-A4675357CFF9}"/>
              </a:ext>
            </a:extLst>
          </p:cNvPr>
          <p:cNvSpPr txBox="1"/>
          <p:nvPr/>
        </p:nvSpPr>
        <p:spPr>
          <a:xfrm>
            <a:off x="4142232" y="512064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Bit 5">
            <a:extLst>
              <a:ext uri="{FF2B5EF4-FFF2-40B4-BE49-F238E27FC236}">
                <a16:creationId xmlns:a16="http://schemas.microsoft.com/office/drawing/2014/main" id="{3DA78FB1-275C-D5C2-BB0A-987FBD84D011}"/>
              </a:ext>
            </a:extLst>
          </p:cNvPr>
          <p:cNvSpPr txBox="1"/>
          <p:nvPr/>
        </p:nvSpPr>
        <p:spPr>
          <a:xfrm>
            <a:off x="4700016" y="512064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Bit 6">
            <a:extLst>
              <a:ext uri="{FF2B5EF4-FFF2-40B4-BE49-F238E27FC236}">
                <a16:creationId xmlns:a16="http://schemas.microsoft.com/office/drawing/2014/main" id="{B0153401-4686-A115-843D-3F586B774750}"/>
              </a:ext>
            </a:extLst>
          </p:cNvPr>
          <p:cNvSpPr txBox="1"/>
          <p:nvPr/>
        </p:nvSpPr>
        <p:spPr>
          <a:xfrm>
            <a:off x="5257800" y="512064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Bit 7">
            <a:extLst>
              <a:ext uri="{FF2B5EF4-FFF2-40B4-BE49-F238E27FC236}">
                <a16:creationId xmlns:a16="http://schemas.microsoft.com/office/drawing/2014/main" id="{D426AF96-D3E8-55D5-D360-1681E3CA3037}"/>
              </a:ext>
            </a:extLst>
          </p:cNvPr>
          <p:cNvSpPr txBox="1"/>
          <p:nvPr/>
        </p:nvSpPr>
        <p:spPr>
          <a:xfrm>
            <a:off x="5815584" y="5120640"/>
            <a:ext cx="502920" cy="457200"/>
          </a:xfrm>
          <a:prstGeom prst="roundRect">
            <a:avLst>
              <a:gd name="adj" fmla="val 16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Bit 8">
            <a:extLst>
              <a:ext uri="{FF2B5EF4-FFF2-40B4-BE49-F238E27FC236}">
                <a16:creationId xmlns:a16="http://schemas.microsoft.com/office/drawing/2014/main" id="{CB5EA70E-4882-1C85-8BA3-55CF6ABA41F6}"/>
              </a:ext>
            </a:extLst>
          </p:cNvPr>
          <p:cNvSpPr txBox="1"/>
          <p:nvPr/>
        </p:nvSpPr>
        <p:spPr>
          <a:xfrm>
            <a:off x="6373368" y="5120640"/>
            <a:ext cx="50292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">
            <a:extLst>
              <a:ext uri="{FF2B5EF4-FFF2-40B4-BE49-F238E27FC236}">
                <a16:creationId xmlns:a16="http://schemas.microsoft.com/office/drawing/2014/main" id="{0426FE38-07D4-02F4-B98B-16C496C35D1F}"/>
              </a:ext>
            </a:extLst>
          </p:cNvPr>
          <p:cNvSpPr txBox="1"/>
          <p:nvPr/>
        </p:nvSpPr>
        <p:spPr>
          <a:xfrm>
            <a:off x="6995160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179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08EFB1A0-9958-A6A2-8A8F-31A711E9F2F6}"/>
              </a:ext>
            </a:extLst>
          </p:cNvPr>
          <p:cNvSpPr txBox="1"/>
          <p:nvPr/>
        </p:nvSpPr>
        <p:spPr>
          <a:xfrm>
            <a:off x="685800" y="5760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least significant bit changes (178 → 179), so the colour barely changes.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828DF21B-49FF-8E49-ECF0-86A9A4A0228B}"/>
              </a:ext>
            </a:extLst>
          </p:cNvPr>
          <p:cNvSpPr txBox="1">
            <a:spLocks/>
          </p:cNvSpPr>
          <p:nvPr/>
        </p:nvSpPr>
        <p:spPr>
          <a:xfrm>
            <a:off x="443484" y="4343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Steganography?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568FDF7-F7AC-5D24-8F94-693A85D5C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663" y="1492127"/>
            <a:ext cx="3131137" cy="4696706"/>
          </a:xfrm>
          <a:prstGeom prst="rect">
            <a:avLst/>
          </a:prstGeom>
        </p:spPr>
      </p:pic>
      <p:pic>
        <p:nvPicPr>
          <p:cNvPr id="60" name="Picture 59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EC15EE4B-E8A4-D283-1E35-24D4EF3E1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66" y="420844"/>
            <a:ext cx="1080904" cy="973397"/>
          </a:xfrm>
          <a:prstGeom prst="rect">
            <a:avLst/>
          </a:prstGeom>
        </p:spPr>
      </p:pic>
      <p:pic>
        <p:nvPicPr>
          <p:cNvPr id="62" name="Picture 61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571A150B-61F3-A0B2-3E84-20E88F519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532" y="278035"/>
            <a:ext cx="1394693" cy="104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9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5D6424B-7D91-ADF9-0DE4-FAA48AFD421A}"/>
              </a:ext>
            </a:extLst>
          </p:cNvPr>
          <p:cNvSpPr txBox="1">
            <a:spLocks/>
          </p:cNvSpPr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vs Steganography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7F3786F8-2E7C-EC28-DA94-D6FBEA5B0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06751"/>
              </p:ext>
            </p:extLst>
          </p:nvPr>
        </p:nvGraphicFramePr>
        <p:xfrm>
          <a:off x="766916" y="1234440"/>
          <a:ext cx="10668000" cy="3657600"/>
        </p:xfrm>
        <a:graphic>
          <a:graphicData uri="http://schemas.openxmlformats.org/drawingml/2006/table">
            <a:tbl>
              <a:tblPr/>
              <a:tblGrid>
                <a:gridCol w="251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Steganography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purpose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 message content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 message existence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Stego object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Secret visibility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is visible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is concealed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required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 depending on method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Generally high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by carrier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 is obvious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steganalysis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AES, RSA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LSB image hiding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">
            <a:extLst>
              <a:ext uri="{FF2B5EF4-FFF2-40B4-BE49-F238E27FC236}">
                <a16:creationId xmlns:a16="http://schemas.microsoft.com/office/drawing/2014/main" id="{DFAF8B0C-34B1-1FC3-5456-2B1A521CE237}"/>
              </a:ext>
            </a:extLst>
          </p:cNvPr>
          <p:cNvSpPr txBox="1"/>
          <p:nvPr/>
        </p:nvSpPr>
        <p:spPr>
          <a:xfrm>
            <a:off x="110613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Key idea 1">
            <a:extLst>
              <a:ext uri="{FF2B5EF4-FFF2-40B4-BE49-F238E27FC236}">
                <a16:creationId xmlns:a16="http://schemas.microsoft.com/office/drawing/2014/main" id="{43768E82-ED80-A0C4-2341-BEF8664C692A}"/>
              </a:ext>
            </a:extLst>
          </p:cNvPr>
          <p:cNvSpPr txBox="1"/>
          <p:nvPr/>
        </p:nvSpPr>
        <p:spPr>
          <a:xfrm>
            <a:off x="2853321" y="5212080"/>
            <a:ext cx="41148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hides the meaning</a:t>
            </a: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Key idea 2">
            <a:extLst>
              <a:ext uri="{FF2B5EF4-FFF2-40B4-BE49-F238E27FC236}">
                <a16:creationId xmlns:a16="http://schemas.microsoft.com/office/drawing/2014/main" id="{022E5118-98ED-9516-4690-2A3841E34E0D}"/>
              </a:ext>
            </a:extLst>
          </p:cNvPr>
          <p:cNvSpPr txBox="1"/>
          <p:nvPr/>
        </p:nvSpPr>
        <p:spPr>
          <a:xfrm>
            <a:off x="7320116" y="5212080"/>
            <a:ext cx="411480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hides the existence</a:t>
            </a: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43EF02C9-B97A-6A36-246B-16E4E85D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603"/>
            <a:ext cx="1080904" cy="973397"/>
          </a:xfrm>
          <a:prstGeom prst="rect">
            <a:avLst/>
          </a:prstGeom>
        </p:spPr>
      </p:pic>
      <p:pic>
        <p:nvPicPr>
          <p:cNvPr id="10" name="Picture 9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04EE08D5-59E0-5674-2673-098100197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172" y="163735"/>
            <a:ext cx="1394693" cy="104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2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xample card">
            <a:extLst>
              <a:ext uri="{FF2B5EF4-FFF2-40B4-BE49-F238E27FC236}">
                <a16:creationId xmlns:a16="http://schemas.microsoft.com/office/drawing/2014/main" id="{147006A6-BB56-DD55-9A59-995DD956C277}"/>
              </a:ext>
            </a:extLst>
          </p:cNvPr>
          <p:cNvSpPr/>
          <p:nvPr/>
        </p:nvSpPr>
        <p:spPr>
          <a:xfrm>
            <a:off x="457200" y="4434840"/>
            <a:ext cx="69494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04DBFC9-59CB-E7C4-EE09-EB2EA01FA151}"/>
              </a:ext>
            </a:extLst>
          </p:cNvPr>
          <p:cNvSpPr txBox="1"/>
          <p:nvPr/>
        </p:nvSpPr>
        <p:spPr>
          <a:xfrm>
            <a:off x="629920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example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xample 1">
            <a:extLst>
              <a:ext uri="{FF2B5EF4-FFF2-40B4-BE49-F238E27FC236}">
                <a16:creationId xmlns:a16="http://schemas.microsoft.com/office/drawing/2014/main" id="{8087AB70-B280-E616-7963-67685F179918}"/>
              </a:ext>
            </a:extLst>
          </p:cNvPr>
          <p:cNvSpPr txBox="1"/>
          <p:nvPr/>
        </p:nvSpPr>
        <p:spPr>
          <a:xfrm>
            <a:off x="640080" y="4937760"/>
            <a:ext cx="1417320" cy="502920"/>
          </a:xfrm>
          <a:prstGeom prst="roundRect">
            <a:avLst>
              <a:gd name="adj" fmla="val 1454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AT 5 PM”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7D63D5E-4288-8F43-9E2A-A4A4C235BD74}"/>
              </a:ext>
            </a:extLst>
          </p:cNvPr>
          <p:cNvSpPr txBox="1"/>
          <p:nvPr/>
        </p:nvSpPr>
        <p:spPr>
          <a:xfrm>
            <a:off x="640080" y="5486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message</a:t>
            </a:r>
          </a:p>
        </p:txBody>
      </p:sp>
      <p:sp>
        <p:nvSpPr>
          <p:cNvPr id="11" name="Arrow">
            <a:extLst>
              <a:ext uri="{FF2B5EF4-FFF2-40B4-BE49-F238E27FC236}">
                <a16:creationId xmlns:a16="http://schemas.microsoft.com/office/drawing/2014/main" id="{6DBC832C-E9B2-2E6B-219E-5272DE67D83E}"/>
              </a:ext>
            </a:extLst>
          </p:cNvPr>
          <p:cNvSpPr/>
          <p:nvPr/>
        </p:nvSpPr>
        <p:spPr>
          <a:xfrm>
            <a:off x="2084832" y="518922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Example 2">
            <a:extLst>
              <a:ext uri="{FF2B5EF4-FFF2-40B4-BE49-F238E27FC236}">
                <a16:creationId xmlns:a16="http://schemas.microsoft.com/office/drawing/2014/main" id="{A4894676-3144-F7FF-02D6-D27C0E55B26F}"/>
              </a:ext>
            </a:extLst>
          </p:cNvPr>
          <p:cNvSpPr txBox="1"/>
          <p:nvPr/>
        </p:nvSpPr>
        <p:spPr>
          <a:xfrm>
            <a:off x="2331720" y="4937760"/>
            <a:ext cx="141732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tx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[Ciphertext]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B9410E9-A376-538F-8E12-8071B92F197D}"/>
              </a:ext>
            </a:extLst>
          </p:cNvPr>
          <p:cNvSpPr txBox="1"/>
          <p:nvPr/>
        </p:nvSpPr>
        <p:spPr>
          <a:xfrm>
            <a:off x="2331720" y="5486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encryption</a:t>
            </a:r>
          </a:p>
        </p:txBody>
      </p:sp>
      <p:sp>
        <p:nvSpPr>
          <p:cNvPr id="17" name="Arrow">
            <a:extLst>
              <a:ext uri="{FF2B5EF4-FFF2-40B4-BE49-F238E27FC236}">
                <a16:creationId xmlns:a16="http://schemas.microsoft.com/office/drawing/2014/main" id="{05A1075B-4BA4-8DB0-821A-5C1D125C2226}"/>
              </a:ext>
            </a:extLst>
          </p:cNvPr>
          <p:cNvSpPr/>
          <p:nvPr/>
        </p:nvSpPr>
        <p:spPr>
          <a:xfrm>
            <a:off x="3776472" y="518922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Example 3">
            <a:extLst>
              <a:ext uri="{FF2B5EF4-FFF2-40B4-BE49-F238E27FC236}">
                <a16:creationId xmlns:a16="http://schemas.microsoft.com/office/drawing/2014/main" id="{2C3A5A9D-9E50-F91B-A7C3-FA8330BF58FE}"/>
              </a:ext>
            </a:extLst>
          </p:cNvPr>
          <p:cNvSpPr txBox="1"/>
          <p:nvPr/>
        </p:nvSpPr>
        <p:spPr>
          <a:xfrm>
            <a:off x="4023360" y="4937760"/>
            <a:ext cx="1417320" cy="502920"/>
          </a:xfrm>
          <a:prstGeom prst="roundRect">
            <a:avLst>
              <a:gd name="adj" fmla="val 1454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Stego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7E7B5208-1598-013C-437C-3C20DDA979F8}"/>
              </a:ext>
            </a:extLst>
          </p:cNvPr>
          <p:cNvSpPr txBox="1"/>
          <p:nvPr/>
        </p:nvSpPr>
        <p:spPr>
          <a:xfrm>
            <a:off x="4023360" y="5486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embedding</a:t>
            </a:r>
          </a:p>
        </p:txBody>
      </p:sp>
      <p:sp>
        <p:nvSpPr>
          <p:cNvPr id="23" name="Arrow">
            <a:extLst>
              <a:ext uri="{FF2B5EF4-FFF2-40B4-BE49-F238E27FC236}">
                <a16:creationId xmlns:a16="http://schemas.microsoft.com/office/drawing/2014/main" id="{04F267DE-F4A9-541A-7910-50ADB8CD01D5}"/>
              </a:ext>
            </a:extLst>
          </p:cNvPr>
          <p:cNvSpPr/>
          <p:nvPr/>
        </p:nvSpPr>
        <p:spPr>
          <a:xfrm>
            <a:off x="5468112" y="5189220"/>
            <a:ext cx="219456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Example 4">
            <a:extLst>
              <a:ext uri="{FF2B5EF4-FFF2-40B4-BE49-F238E27FC236}">
                <a16:creationId xmlns:a16="http://schemas.microsoft.com/office/drawing/2014/main" id="{74E06792-4230-FF22-EDA7-57BC1E02E2F2}"/>
              </a:ext>
            </a:extLst>
          </p:cNvPr>
          <p:cNvSpPr txBox="1"/>
          <p:nvPr/>
        </p:nvSpPr>
        <p:spPr>
          <a:xfrm>
            <a:off x="5715000" y="4937760"/>
            <a:ext cx="1417320" cy="502920"/>
          </a:xfrm>
          <a:prstGeom prst="roundRect">
            <a:avLst>
              <a:gd name="adj" fmla="val 1454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“MEET AT 5 PM”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8EB100E3-B6BE-9D18-EEE9-C9B05A61266A}"/>
              </a:ext>
            </a:extLst>
          </p:cNvPr>
          <p:cNvSpPr txBox="1"/>
          <p:nvPr/>
        </p:nvSpPr>
        <p:spPr>
          <a:xfrm>
            <a:off x="5715000" y="5486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extraction + decryption</a:t>
            </a:r>
          </a:p>
        </p:txBody>
      </p:sp>
      <p:sp>
        <p:nvSpPr>
          <p:cNvPr id="29" name="Checks card">
            <a:extLst>
              <a:ext uri="{FF2B5EF4-FFF2-40B4-BE49-F238E27FC236}">
                <a16:creationId xmlns:a16="http://schemas.microsoft.com/office/drawing/2014/main" id="{14DFBBC5-532B-A196-79DA-27E73BD4684C}"/>
              </a:ext>
            </a:extLst>
          </p:cNvPr>
          <p:cNvSpPr/>
          <p:nvPr/>
        </p:nvSpPr>
        <p:spPr>
          <a:xfrm>
            <a:off x="7680960" y="443484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83C442CE-AFE6-77A8-A043-4F16A830669E}"/>
              </a:ext>
            </a:extLst>
          </p:cNvPr>
          <p:cNvSpPr txBox="1"/>
          <p:nvPr/>
        </p:nvSpPr>
        <p:spPr>
          <a:xfrm>
            <a:off x="78638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checks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Checks list">
            <a:extLst>
              <a:ext uri="{FF2B5EF4-FFF2-40B4-BE49-F238E27FC236}">
                <a16:creationId xmlns:a16="http://schemas.microsoft.com/office/drawing/2014/main" id="{B545DBC4-D467-79F4-F949-1D03B1C87664}"/>
              </a:ext>
            </a:extLst>
          </p:cNvPr>
          <p:cNvSpPr txBox="1"/>
          <p:nvPr/>
        </p:nvSpPr>
        <p:spPr>
          <a:xfrm>
            <a:off x="7863840" y="489204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Recovered message matches original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vs stego compared visually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 estimated from image size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02EDD24-05A4-F952-1950-615EA153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6" y="1483995"/>
            <a:ext cx="10392697" cy="256222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610E19C-7040-21BF-F24B-A0A28C068AA3}"/>
              </a:ext>
            </a:extLst>
          </p:cNvPr>
          <p:cNvSpPr txBox="1"/>
          <p:nvPr/>
        </p:nvSpPr>
        <p:spPr>
          <a:xfrm>
            <a:off x="2874214" y="510600"/>
            <a:ext cx="70988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Practical Demonstration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126160A3-049A-454B-B3E0-EE6712356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1496"/>
            <a:ext cx="1080904" cy="973397"/>
          </a:xfrm>
          <a:prstGeom prst="rect">
            <a:avLst/>
          </a:prstGeom>
        </p:spPr>
      </p:pic>
      <p:pic>
        <p:nvPicPr>
          <p:cNvPr id="41" name="Picture 40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2F0B3D57-8FC8-47A9-91AE-6335F1AD0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1868" y="209455"/>
            <a:ext cx="1394693" cy="104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60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>
            <a:extLst>
              <a:ext uri="{FF2B5EF4-FFF2-40B4-BE49-F238E27FC236}">
                <a16:creationId xmlns:a16="http://schemas.microsoft.com/office/drawing/2014/main" id="{33DC10E0-56A6-F138-6D1F-59C60629EA82}"/>
              </a:ext>
            </a:extLst>
          </p:cNvPr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pplication 1">
            <a:extLst>
              <a:ext uri="{FF2B5EF4-FFF2-40B4-BE49-F238E27FC236}">
                <a16:creationId xmlns:a16="http://schemas.microsoft.com/office/drawing/2014/main" id="{DB7FE233-BC8C-C3A3-FDD7-667A7C5FB251}"/>
              </a:ext>
            </a:extLst>
          </p:cNvPr>
          <p:cNvSpPr txBox="1"/>
          <p:nvPr/>
        </p:nvSpPr>
        <p:spPr>
          <a:xfrm>
            <a:off x="457200" y="164592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pplication 2">
            <a:extLst>
              <a:ext uri="{FF2B5EF4-FFF2-40B4-BE49-F238E27FC236}">
                <a16:creationId xmlns:a16="http://schemas.microsoft.com/office/drawing/2014/main" id="{824CD0E4-65FB-B21B-73B7-401418E0DB8E}"/>
              </a:ext>
            </a:extLst>
          </p:cNvPr>
          <p:cNvSpPr txBox="1"/>
          <p:nvPr/>
        </p:nvSpPr>
        <p:spPr>
          <a:xfrm>
            <a:off x="4297680" y="164592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watermarking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pplication 3">
            <a:extLst>
              <a:ext uri="{FF2B5EF4-FFF2-40B4-BE49-F238E27FC236}">
                <a16:creationId xmlns:a16="http://schemas.microsoft.com/office/drawing/2014/main" id="{83122DE9-3439-1ED2-3DFE-B8765A224531}"/>
              </a:ext>
            </a:extLst>
          </p:cNvPr>
          <p:cNvSpPr txBox="1"/>
          <p:nvPr/>
        </p:nvSpPr>
        <p:spPr>
          <a:xfrm>
            <a:off x="8138160" y="164592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Copyright protection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pplication 4">
            <a:extLst>
              <a:ext uri="{FF2B5EF4-FFF2-40B4-BE49-F238E27FC236}">
                <a16:creationId xmlns:a16="http://schemas.microsoft.com/office/drawing/2014/main" id="{8288652E-6DC2-4C6D-1EFE-FFDC2686B230}"/>
              </a:ext>
            </a:extLst>
          </p:cNvPr>
          <p:cNvSpPr txBox="1"/>
          <p:nvPr/>
        </p:nvSpPr>
        <p:spPr>
          <a:xfrm>
            <a:off x="457200" y="224028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pplication 5">
            <a:extLst>
              <a:ext uri="{FF2B5EF4-FFF2-40B4-BE49-F238E27FC236}">
                <a16:creationId xmlns:a16="http://schemas.microsoft.com/office/drawing/2014/main" id="{DFBC92E1-263C-8B08-9EF4-D690DBDFE6DC}"/>
              </a:ext>
            </a:extLst>
          </p:cNvPr>
          <p:cNvSpPr txBox="1"/>
          <p:nvPr/>
        </p:nvSpPr>
        <p:spPr>
          <a:xfrm>
            <a:off x="4297680" y="224028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Tamper detection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pplication 6">
            <a:extLst>
              <a:ext uri="{FF2B5EF4-FFF2-40B4-BE49-F238E27FC236}">
                <a16:creationId xmlns:a16="http://schemas.microsoft.com/office/drawing/2014/main" id="{6A5FE30A-B751-F7BF-0984-8346F5255AFB}"/>
              </a:ext>
            </a:extLst>
          </p:cNvPr>
          <p:cNvSpPr txBox="1"/>
          <p:nvPr/>
        </p:nvSpPr>
        <p:spPr>
          <a:xfrm>
            <a:off x="8138160" y="224028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 information exchange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ryptography card">
            <a:extLst>
              <a:ext uri="{FF2B5EF4-FFF2-40B4-BE49-F238E27FC236}">
                <a16:creationId xmlns:a16="http://schemas.microsoft.com/office/drawing/2014/main" id="{D1768A91-3852-245B-EAE7-1B916A3B605A}"/>
              </a:ext>
            </a:extLst>
          </p:cNvPr>
          <p:cNvSpPr/>
          <p:nvPr/>
        </p:nvSpPr>
        <p:spPr>
          <a:xfrm>
            <a:off x="457200" y="3017520"/>
            <a:ext cx="548640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Cryptography points">
            <a:extLst>
              <a:ext uri="{FF2B5EF4-FFF2-40B4-BE49-F238E27FC236}">
                <a16:creationId xmlns:a16="http://schemas.microsoft.com/office/drawing/2014/main" id="{6A989370-9059-23C4-B186-1AF5BE73D5F2}"/>
              </a:ext>
            </a:extLst>
          </p:cNvPr>
          <p:cNvSpPr txBox="1"/>
          <p:nvPr/>
        </p:nvSpPr>
        <p:spPr>
          <a:xfrm>
            <a:off x="685800" y="3154680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confidentiality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and standardized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 may attract attention.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teganography card">
            <a:extLst>
              <a:ext uri="{FF2B5EF4-FFF2-40B4-BE49-F238E27FC236}">
                <a16:creationId xmlns:a16="http://schemas.microsoft.com/office/drawing/2014/main" id="{E138CA48-2599-28F6-69B6-4E6A530EF870}"/>
              </a:ext>
            </a:extLst>
          </p:cNvPr>
          <p:cNvSpPr/>
          <p:nvPr/>
        </p:nvSpPr>
        <p:spPr>
          <a:xfrm>
            <a:off x="6217920" y="3017520"/>
            <a:ext cx="548640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teganography points">
            <a:extLst>
              <a:ext uri="{FF2B5EF4-FFF2-40B4-BE49-F238E27FC236}">
                <a16:creationId xmlns:a16="http://schemas.microsoft.com/office/drawing/2014/main" id="{6C266720-3B28-E5C1-521E-16322BF3D3BE}"/>
              </a:ext>
            </a:extLst>
          </p:cNvPr>
          <p:cNvSpPr txBox="1"/>
          <p:nvPr/>
        </p:nvSpPr>
        <p:spPr>
          <a:xfrm>
            <a:off x="6446520" y="3154680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Conceals the presence of communication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use ordinary digital media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hiding capacity.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potentially be detected using steganalysis.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F2591665-4820-6AD0-60EE-8DC63AE1A24F}"/>
              </a:ext>
            </a:extLst>
          </p:cNvPr>
          <p:cNvSpPr txBox="1">
            <a:spLocks/>
          </p:cNvSpPr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Security Considerations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3F2A77BC-0352-01D3-E64A-DF5D205C5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95" y="146743"/>
            <a:ext cx="1080904" cy="973397"/>
          </a:xfrm>
          <a:prstGeom prst="rect">
            <a:avLst/>
          </a:prstGeom>
        </p:spPr>
      </p:pic>
      <p:pic>
        <p:nvPicPr>
          <p:cNvPr id="28" name="Picture 2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52C62A1E-01C3-C401-6FC1-EA1C68617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732" y="348640"/>
            <a:ext cx="1394693" cy="104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5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clusion points">
            <a:extLst>
              <a:ext uri="{FF2B5EF4-FFF2-40B4-BE49-F238E27FC236}">
                <a16:creationId xmlns:a16="http://schemas.microsoft.com/office/drawing/2014/main" id="{677A7958-4C8F-8B29-09DF-8E959A4EFBBF}"/>
              </a:ext>
            </a:extLst>
          </p:cNvPr>
          <p:cNvSpPr txBox="1"/>
          <p:nvPr/>
        </p:nvSpPr>
        <p:spPr>
          <a:xfrm>
            <a:off x="688751" y="1691640"/>
            <a:ext cx="5516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protects the content of information.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hides the existence of information.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solve different but complementary security problems.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both can provide layered protection.</a:t>
            </a:r>
          </a:p>
        </p:txBody>
      </p:sp>
      <p:sp>
        <p:nvSpPr>
          <p:cNvPr id="5" name="Concept 1">
            <a:extLst>
              <a:ext uri="{FF2B5EF4-FFF2-40B4-BE49-F238E27FC236}">
                <a16:creationId xmlns:a16="http://schemas.microsoft.com/office/drawing/2014/main" id="{C406A051-813B-10E8-7ACC-3DFA2390DF5A}"/>
              </a:ext>
            </a:extLst>
          </p:cNvPr>
          <p:cNvSpPr txBox="1"/>
          <p:nvPr/>
        </p:nvSpPr>
        <p:spPr>
          <a:xfrm>
            <a:off x="6766560" y="1737362"/>
            <a:ext cx="2834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>
                <a:lumMod val="75000"/>
              </a:schemeClr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95F4A566-60C9-1D1F-F993-BD47327298BA}"/>
              </a:ext>
            </a:extLst>
          </p:cNvPr>
          <p:cNvSpPr/>
          <p:nvPr/>
        </p:nvSpPr>
        <p:spPr>
          <a:xfrm>
            <a:off x="9646920" y="2103122"/>
            <a:ext cx="36576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9" name="Result 1">
            <a:extLst>
              <a:ext uri="{FF2B5EF4-FFF2-40B4-BE49-F238E27FC236}">
                <a16:creationId xmlns:a16="http://schemas.microsoft.com/office/drawing/2014/main" id="{FAD91562-D038-2465-76EA-DF23EFA8C16A}"/>
              </a:ext>
            </a:extLst>
          </p:cNvPr>
          <p:cNvSpPr txBox="1"/>
          <p:nvPr/>
        </p:nvSpPr>
        <p:spPr>
          <a:xfrm>
            <a:off x="10012680" y="1737362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cept 2">
            <a:extLst>
              <a:ext uri="{FF2B5EF4-FFF2-40B4-BE49-F238E27FC236}">
                <a16:creationId xmlns:a16="http://schemas.microsoft.com/office/drawing/2014/main" id="{BC481A66-4FD2-00CF-92E6-5796D9F793A9}"/>
              </a:ext>
            </a:extLst>
          </p:cNvPr>
          <p:cNvSpPr txBox="1"/>
          <p:nvPr/>
        </p:nvSpPr>
        <p:spPr>
          <a:xfrm>
            <a:off x="6766560" y="2880361"/>
            <a:ext cx="2834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>
                <a:lumMod val="75000"/>
              </a:schemeClr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">
            <a:extLst>
              <a:ext uri="{FF2B5EF4-FFF2-40B4-BE49-F238E27FC236}">
                <a16:creationId xmlns:a16="http://schemas.microsoft.com/office/drawing/2014/main" id="{D21FA136-D1DC-AF21-482D-60A8DE26F58E}"/>
              </a:ext>
            </a:extLst>
          </p:cNvPr>
          <p:cNvSpPr/>
          <p:nvPr/>
        </p:nvSpPr>
        <p:spPr>
          <a:xfrm>
            <a:off x="9646920" y="3235306"/>
            <a:ext cx="36576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15" name="Result 2">
            <a:extLst>
              <a:ext uri="{FF2B5EF4-FFF2-40B4-BE49-F238E27FC236}">
                <a16:creationId xmlns:a16="http://schemas.microsoft.com/office/drawing/2014/main" id="{2AB11314-D429-01C9-24C7-259B348B424E}"/>
              </a:ext>
            </a:extLst>
          </p:cNvPr>
          <p:cNvSpPr txBox="1"/>
          <p:nvPr/>
        </p:nvSpPr>
        <p:spPr>
          <a:xfrm>
            <a:off x="10058400" y="2880361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Concealment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cept 3">
            <a:extLst>
              <a:ext uri="{FF2B5EF4-FFF2-40B4-BE49-F238E27FC236}">
                <a16:creationId xmlns:a16="http://schemas.microsoft.com/office/drawing/2014/main" id="{9C4F51FA-D40B-D7B9-6315-7B5215072B12}"/>
              </a:ext>
            </a:extLst>
          </p:cNvPr>
          <p:cNvSpPr txBox="1"/>
          <p:nvPr/>
        </p:nvSpPr>
        <p:spPr>
          <a:xfrm>
            <a:off x="6751320" y="4023360"/>
            <a:ext cx="28346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+ Steganography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">
            <a:extLst>
              <a:ext uri="{FF2B5EF4-FFF2-40B4-BE49-F238E27FC236}">
                <a16:creationId xmlns:a16="http://schemas.microsoft.com/office/drawing/2014/main" id="{F91E4BC4-1697-73C4-67E4-588DC266E286}"/>
              </a:ext>
            </a:extLst>
          </p:cNvPr>
          <p:cNvSpPr/>
          <p:nvPr/>
        </p:nvSpPr>
        <p:spPr>
          <a:xfrm>
            <a:off x="9683791" y="4389120"/>
            <a:ext cx="36576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21" name="Result 3">
            <a:extLst>
              <a:ext uri="{FF2B5EF4-FFF2-40B4-BE49-F238E27FC236}">
                <a16:creationId xmlns:a16="http://schemas.microsoft.com/office/drawing/2014/main" id="{8F31A002-7E94-7C31-3260-FE347DDE2B00}"/>
              </a:ext>
            </a:extLst>
          </p:cNvPr>
          <p:cNvSpPr txBox="1"/>
          <p:nvPr/>
        </p:nvSpPr>
        <p:spPr>
          <a:xfrm>
            <a:off x="10058400" y="4034174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Security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losing line">
            <a:extLst>
              <a:ext uri="{FF2B5EF4-FFF2-40B4-BE49-F238E27FC236}">
                <a16:creationId xmlns:a16="http://schemas.microsoft.com/office/drawing/2014/main" id="{C252A08A-3F63-AF07-3841-55B3F05BBA5D}"/>
              </a:ext>
            </a:extLst>
          </p:cNvPr>
          <p:cNvSpPr txBox="1"/>
          <p:nvPr/>
        </p:nvSpPr>
        <p:spPr>
          <a:xfrm>
            <a:off x="688751" y="5166359"/>
            <a:ext cx="11247120" cy="731520"/>
          </a:xfrm>
          <a:prstGeom prst="roundRect">
            <a:avLst>
              <a:gd name="adj" fmla="val 1000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“Cryptography protects the message; steganography protects the secrecy of its presence.”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9A0E2C56-CA04-A9ED-8676-DC53E044A875}"/>
              </a:ext>
            </a:extLst>
          </p:cNvPr>
          <p:cNvSpPr txBox="1">
            <a:spLocks/>
          </p:cNvSpPr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4648DFDE-97F3-B017-5C8C-2A9A7A976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6" y="420844"/>
            <a:ext cx="1080904" cy="973397"/>
          </a:xfrm>
          <a:prstGeom prst="rect">
            <a:avLst/>
          </a:prstGeom>
        </p:spPr>
      </p:pic>
      <p:pic>
        <p:nvPicPr>
          <p:cNvPr id="28" name="Picture 27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2DAC0A8D-D6B9-1A0E-6E02-0ED3167D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732" y="348640"/>
            <a:ext cx="1394693" cy="104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23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502</Words>
  <Application>Microsoft Office PowerPoint</Application>
  <PresentationFormat>Widescreen</PresentationFormat>
  <Paragraphs>144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Steganography vs Cryptography: Hidden Security in the Digital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shaikasha6207@gmail.com</dc:creator>
  <cp:lastModifiedBy>shaikasha6207@gmail.com</cp:lastModifiedBy>
  <cp:revision>1</cp:revision>
  <dcterms:created xsi:type="dcterms:W3CDTF">2026-10-07T12:14:44Z</dcterms:created>
  <dcterms:modified xsi:type="dcterms:W3CDTF">2026-10-07T13:21:34Z</dcterms:modified>
</cp:coreProperties>
</file>